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AA6E2B-8CDD-1BB4-EAF2-2F1ACBE40C79}" v="3" dt="2026-10-01T09:08:39.1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tenantanon#7540734b-e567-46c3-9ad3-ec9fb9e50140::" providerId="AD" clId="Web-{99AA6E2B-8CDD-1BB4-EAF2-2F1ACBE40C79}"/>
    <pc:docChg chg="modSld">
      <pc:chgData name="Guest User" userId="S::urn:spo:tenantanon#7540734b-e567-46c3-9ad3-ec9fb9e50140::" providerId="AD" clId="Web-{99AA6E2B-8CDD-1BB4-EAF2-2F1ACBE40C79}" dt="2026-10-01T09:08:39.118" v="2" actId="1076"/>
      <pc:docMkLst>
        <pc:docMk/>
      </pc:docMkLst>
      <pc:sldChg chg="modSp">
        <pc:chgData name="Guest User" userId="S::urn:spo:tenantanon#7540734b-e567-46c3-9ad3-ec9fb9e50140::" providerId="AD" clId="Web-{99AA6E2B-8CDD-1BB4-EAF2-2F1ACBE40C79}" dt="2026-10-01T09:08:39.118" v="2" actId="1076"/>
        <pc:sldMkLst>
          <pc:docMk/>
          <pc:sldMk cId="0" sldId="259"/>
        </pc:sldMkLst>
        <pc:picChg chg="mod">
          <ac:chgData name="Guest User" userId="S::urn:spo:tenantanon#7540734b-e567-46c3-9ad3-ec9fb9e50140::" providerId="AD" clId="Web-{99AA6E2B-8CDD-1BB4-EAF2-2F1ACBE40C79}" dt="2026-10-01T09:08:39.118" v="2" actId="1076"/>
          <ac:picMkLst>
            <pc:docMk/>
            <pc:sldMk cId="0" sldId="259"/>
            <ac:picMk id="4" creationId="{00000000-0000-0000-0000-000000000000}"/>
          </ac:picMkLst>
        </pc:picChg>
      </pc:sldChg>
      <pc:sldChg chg="modSp">
        <pc:chgData name="Guest User" userId="S::urn:spo:tenantanon#7540734b-e567-46c3-9ad3-ec9fb9e50140::" providerId="AD" clId="Web-{99AA6E2B-8CDD-1BB4-EAF2-2F1ACBE40C79}" dt="2026-09-30T10:14:14.222" v="1" actId="1076"/>
        <pc:sldMkLst>
          <pc:docMk/>
          <pc:sldMk cId="0" sldId="260"/>
        </pc:sldMkLst>
        <pc:picChg chg="mod">
          <ac:chgData name="Guest User" userId="S::urn:spo:tenantanon#7540734b-e567-46c3-9ad3-ec9fb9e50140::" providerId="AD" clId="Web-{99AA6E2B-8CDD-1BB4-EAF2-2F1ACBE40C79}" dt="2026-09-30T10:14:14.222" v="1" actId="1076"/>
          <ac:picMkLst>
            <pc:docMk/>
            <pc:sldMk cId="0" sldId="260"/>
            <ac:picMk id="2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31.png"/><Relationship Id="rId7" Type="http://schemas.openxmlformats.org/officeDocument/2006/relationships/image" Target="../media/image1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36.png"/><Relationship Id="rId5" Type="http://schemas.openxmlformats.org/officeDocument/2006/relationships/image" Target="../media/image33.png"/><Relationship Id="rId10" Type="http://schemas.openxmlformats.org/officeDocument/2006/relationships/image" Target="../media/image35.png"/><Relationship Id="rId4" Type="http://schemas.openxmlformats.org/officeDocument/2006/relationships/image" Target="../media/image32.png"/><Relationship Id="rId9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31.png"/><Relationship Id="rId7" Type="http://schemas.openxmlformats.org/officeDocument/2006/relationships/image" Target="../media/image1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52.png"/><Relationship Id="rId5" Type="http://schemas.openxmlformats.org/officeDocument/2006/relationships/image" Target="../media/image33.png"/><Relationship Id="rId10" Type="http://schemas.openxmlformats.org/officeDocument/2006/relationships/image" Target="../media/image51.png"/><Relationship Id="rId4" Type="http://schemas.openxmlformats.org/officeDocument/2006/relationships/image" Target="../media/image32.png"/><Relationship Id="rId9" Type="http://schemas.openxmlformats.org/officeDocument/2006/relationships/image" Target="../media/image5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7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28850"/>
            <a:ext cx="11049000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667000"/>
            <a:ext cx="11601450" cy="586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sz="4200" b="0" i="0" u="none">
                <a:solidFill>
                  <a:srgbClr val="FFFFFF"/>
                </a:solidFill>
                <a:latin typeface="Plus Jakarta Sans ExtraBold"/>
              </a:rPr>
              <a:t>AI for Technical Architects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367980"/>
            <a:ext cx="11049000" cy="3466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sz="1950" b="0" i="0" u="none">
                <a:solidFill>
                  <a:srgbClr val="38BDF8"/>
                </a:solidFill>
                <a:latin typeface="Inter SemiBold"/>
              </a:rPr>
              <a:t>Day 1: Multi-Agent Systems &amp; Resilient Orchestration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981301"/>
            <a:ext cx="762000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94A3B8"/>
                </a:solidFill>
                <a:latin typeface="Inter"/>
              </a:rPr>
              <a:t>15-Hour Intensive Curriculum • Topologies, State Management, Fault Tolerance, Polyglot Implementation &amp; Enterprise Capstone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425" y="2309812"/>
            <a:ext cx="158650" cy="1238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83631"/>
            <a:ext cx="1090612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821781"/>
            <a:ext cx="10291286" cy="5476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312"/>
              </a:lnSpc>
            </a:pPr>
            <a:r>
              <a:rPr sz="3750" b="0" i="0" u="none">
                <a:solidFill>
                  <a:srgbClr val="F8FAFC"/>
                </a:solidFill>
                <a:latin typeface="Plus Jakarta Sans ExtraBold"/>
              </a:rPr>
              <a:t>Multi-Agent Topologies &amp; Workflow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093368"/>
            <a:ext cx="703897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94A3B8"/>
                </a:solidFill>
                <a:latin typeface="Inter"/>
              </a:rPr>
              <a:t>Hierarchical, Peer-to-Peer, Swarm Patterns &amp; Task Decomposition Strategies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55527"/>
            <a:ext cx="5372100" cy="238690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2555527"/>
            <a:ext cx="5372100" cy="23869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7725" y="3269902"/>
            <a:ext cx="5060632" cy="2723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45"/>
              </a:lnSpc>
            </a:pPr>
            <a:r>
              <a:rPr sz="1650" b="1" i="0" u="none">
                <a:solidFill>
                  <a:srgbClr val="1E3A8A"/>
                </a:solidFill>
                <a:latin typeface="Plus Jakarta Sans"/>
              </a:rPr>
              <a:t>Context Window &amp; Tool Saturation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7725" y="3637508"/>
            <a:ext cx="48196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Single monolithic agents degrade dramatically when managing &gt;15 tools or excessive tokens. Task context becomes contaminated, causing instruction drift, hallucinated parameters, and bloated token costs.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24625" y="3269902"/>
            <a:ext cx="5060632" cy="2723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45"/>
              </a:lnSpc>
            </a:pPr>
            <a:r>
              <a:rPr sz="1650" b="1" i="0" u="none">
                <a:solidFill>
                  <a:srgbClr val="1E3A8A"/>
                </a:solidFill>
                <a:latin typeface="Plus Jakarta Sans"/>
              </a:rPr>
              <a:t>Architectural Specialization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24625" y="3637508"/>
            <a:ext cx="48196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Decomposing monolithic logic into autonomous, specialized agents establishes clear domain boundaries. Each agent operates with focused tool sets, restricted prompts, and explicit validation checks.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25" y="2860327"/>
            <a:ext cx="266700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4625" y="2860327"/>
            <a:ext cx="304800" cy="266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476250"/>
            <a:ext cx="11601450" cy="411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Plus Jakarta Sans"/>
              </a:rPr>
              <a:t>Why Single Agents Fail at Scale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58330"/>
            <a:ext cx="3530649" cy="27813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3704" y="2358330"/>
            <a:ext cx="3530649" cy="27813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358330"/>
            <a:ext cx="3530649" cy="27813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2634555"/>
            <a:ext cx="45720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7725" y="3263205"/>
            <a:ext cx="3127109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500" b="1" i="0" u="none">
                <a:solidFill>
                  <a:srgbClr val="1E293B"/>
                </a:solidFill>
                <a:latin typeface="Plus Jakarta Sans"/>
              </a:rPr>
              <a:t>Hierarchical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606105"/>
            <a:ext cx="2978199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Supervisor agent manages sub-agents in a strict tree hierarchy. Ideal for complex multi-domain workflows requiring deterministic oversight and aggregated outcomes.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6974" y="2634555"/>
            <a:ext cx="457200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06974" y="3263205"/>
            <a:ext cx="3127109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500" b="1" i="0" u="none">
                <a:solidFill>
                  <a:srgbClr val="1E293B"/>
                </a:solidFill>
                <a:latin typeface="Plus Jakarta Sans"/>
              </a:rPr>
              <a:t>Peer-to-Peer (Mesh)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6974" y="3606105"/>
            <a:ext cx="29781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Decentralized agents negotiate directly via structured protocols without a central orchestrator. Suited for collaborative reasoning and iterative refinement.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6224" y="2634555"/>
            <a:ext cx="457200" cy="457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66224" y="3263205"/>
            <a:ext cx="3127109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500" b="1" i="0" u="none">
                <a:solidFill>
                  <a:srgbClr val="1E293B"/>
                </a:solidFill>
                <a:latin typeface="Plus Jakarta Sans"/>
              </a:rPr>
              <a:t>Swarm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224" y="3606105"/>
            <a:ext cx="2978199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Autonomous agents coordinate dynamically through shared state bulletin boards or direct task handoffs. Highly scalable for dynamic research and data processing.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2025" y="2748855"/>
            <a:ext cx="228600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92699" y="2748855"/>
            <a:ext cx="285750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66236" y="2748855"/>
            <a:ext cx="257175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411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Plus Jakarta Sans"/>
              </a:rPr>
              <a:t>Core Multi-Agent Topologies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1939230"/>
            <a:ext cx="537210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939230"/>
            <a:ext cx="50292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Centralized Command: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Top-level supervisor assesses incoming requests, decomposes goals, and routes subtasks.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96455"/>
            <a:ext cx="50292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Domain Boundaries: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Leaf worker agents perform focused operations (e.g., search, SQL generation, synthesis).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53680"/>
            <a:ext cx="50292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Synthesized Output: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Workers report strictly back to their manager, eliminating unbounded inter-agent cross-talk.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10905"/>
            <a:ext cx="50292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Latency Accumulation: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Processing latency scales with hierarchy depth (6–12s min per level).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76250"/>
            <a:ext cx="11601450" cy="411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Plus Jakarta Sans"/>
              </a:rPr>
              <a:t>Hierarchical &amp; Supervisor Topology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1939230"/>
            <a:ext cx="537210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939230"/>
            <a:ext cx="50292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Decentralized Control: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Agents communicate directly with peers to negotiate task delegation and share insights.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96455"/>
            <a:ext cx="50292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Contract Negotiation: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Agents publish capability contracts via standardized schemas (e.g., JSON-RPC, FIPA-ACL).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53680"/>
            <a:ext cx="50292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Event Streaming: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Frequently built over Kafka or Redis Pub/Sub for asynchronous message passing.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10905"/>
            <a:ext cx="50292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Topology Limits: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Works optimally for 3–8 agents. Connection complexity grows exponentially (O(N²)).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76250"/>
            <a:ext cx="11601450" cy="411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Plus Jakarta Sans"/>
              </a:rPr>
              <a:t>Peer-to-Peer Mesh Topologies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1939230"/>
            <a:ext cx="537210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939230"/>
            <a:ext cx="50292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Emergent Coordination: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Lightweight agents switch context dynamically based on active state and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96455"/>
            <a:ext cx="50292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Handoff Mechanisms: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An active agent transfers total control and execution context directly to another specialist.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53680"/>
            <a:ext cx="50292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Blackboard Model: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Shared memory store where agents inspect state, post subtask solutions, and pull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10905"/>
            <a:ext cx="50292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Governance Challenge: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Non-deterministic paths make regulatory compliance and auditing complex.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76250"/>
            <a:ext cx="11601450" cy="411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Plus Jakarta Sans"/>
              </a:rPr>
              <a:t>Swarm Architectures &amp; Dynamic Handoffs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71500" y="1929705"/>
          <a:ext cx="11029948" cy="3638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12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2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74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5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2237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2771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Topology Pattern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Control Level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Fault Tolerance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Auditability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Target Enterprise Use Cases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771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475569"/>
                          </a:solidFill>
                          <a:latin typeface="Inter"/>
                        </a:rPr>
                        <a:t>Supervisor / Hierarchy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High (Strict)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Medium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High (Traceable)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Claims Processing, Compliance, Order Fulfillment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771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475569"/>
                          </a:solidFill>
                          <a:latin typeface="Inter"/>
                        </a:rPr>
                        <a:t>Peer-to-Peer Mesh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Medium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High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Medium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Code Review Loops, Collaborative Design, Diagnostics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771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475569"/>
                          </a:solidFill>
                          <a:latin typeface="Inter"/>
                        </a:rPr>
                        <a:t>Swarm / Handoff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Low (Emergent)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High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Low (Complex)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Unstructured Research, Data Mining, Optimization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771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475569"/>
                          </a:solidFill>
                          <a:latin typeface="Inter"/>
                        </a:rPr>
                        <a:t>Sequential Pipeline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High (Deterministic)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Low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High (Linear)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Document ETL, Content Publishing, Batch Reports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81025" y="2701230"/>
            <a:ext cx="19712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552253" y="2701230"/>
            <a:ext cx="179218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344441" y="2701230"/>
            <a:ext cx="147741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821858" y="2701230"/>
            <a:ext cx="156537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87232" y="2701230"/>
            <a:ext cx="422374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81025" y="3472755"/>
            <a:ext cx="19712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552253" y="3472755"/>
            <a:ext cx="179218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4441" y="3472755"/>
            <a:ext cx="147741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821858" y="3472755"/>
            <a:ext cx="156537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87232" y="3472755"/>
            <a:ext cx="422374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81025" y="4244280"/>
            <a:ext cx="19712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552253" y="4244280"/>
            <a:ext cx="179218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44441" y="4244280"/>
            <a:ext cx="147741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21858" y="4244280"/>
            <a:ext cx="156537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87232" y="4244280"/>
            <a:ext cx="422374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81025" y="4787205"/>
            <a:ext cx="197122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552253" y="4787205"/>
            <a:ext cx="179218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44441" y="4787205"/>
            <a:ext cx="147741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821858" y="4787205"/>
            <a:ext cx="156537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387232" y="4787205"/>
            <a:ext cx="422374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71500" y="476250"/>
            <a:ext cx="11601450" cy="411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Plus Jakarta Sans"/>
              </a:rPr>
              <a:t>Enterprise Topology Selection Matrix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798861"/>
            <a:ext cx="1070610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Goal Abstraction: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Defining atomic subgoals with clear input/output JSON schemas and bounded execution parameters.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13199"/>
            <a:ext cx="107061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Negotiation Strategies: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Implementing Contract Net Protocol (CNP) where orchestrators solicit bids from worker agents based on latency and cost.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70424"/>
            <a:ext cx="1070610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Role Governance: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Strictly assigning tool privileges, maximum recursion steps, and memory isolation per agent.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84761"/>
            <a:ext cx="1070610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Synthesizer Patterns: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Dedicated evaluator agents verifying worker outputs before passing state downstream.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22674"/>
            <a:ext cx="219075" cy="200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237011"/>
            <a:ext cx="238125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894236"/>
            <a:ext cx="19050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308574"/>
            <a:ext cx="190500" cy="2000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476250"/>
            <a:ext cx="11601450" cy="411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Plus Jakarta Sans"/>
              </a:rPr>
              <a:t>Agent Specification &amp; Task Decomposition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76250"/>
            <a:ext cx="1977925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914400"/>
            <a:ext cx="5600700" cy="411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Plus Jakarta Sans"/>
              </a:rPr>
              <a:t>Excalidraw Design Session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0"/>
            <a:ext cx="5905500" cy="6858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25" y="557212"/>
            <a:ext cx="82450" cy="1238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1554360"/>
            <a:ext cx="5600700" cy="2723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45"/>
              </a:lnSpc>
            </a:pPr>
            <a:r>
              <a:rPr sz="1650" b="1" i="0" u="none">
                <a:solidFill>
                  <a:srgbClr val="1E293B"/>
                </a:solidFill>
                <a:latin typeface="Plus Jakarta Sans"/>
              </a:rPr>
              <a:t>P2P Claim Processing Diagram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1921966"/>
            <a:ext cx="533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Work with your group to design a Peer-to-Peer interaction diagram for a multi-service claim processing system using Excalidraw.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2493466"/>
            <a:ext cx="533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Focus on defining message passing formats, fallback paths, and agent boundaries.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83631"/>
            <a:ext cx="1119187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821781"/>
            <a:ext cx="10901362" cy="5476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312"/>
              </a:lnSpc>
            </a:pPr>
            <a:r>
              <a:rPr sz="3750" b="0" i="0" u="none">
                <a:solidFill>
                  <a:srgbClr val="F8FAFC"/>
                </a:solidFill>
                <a:latin typeface="Plus Jakarta Sans ExtraBold"/>
              </a:rPr>
              <a:t>Coordination, State Sharing &amp; Circuit Breakers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093368"/>
            <a:ext cx="681037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94A3B8"/>
                </a:solidFill>
                <a:latin typeface="Inter"/>
              </a:rPr>
              <a:t>Message Protocols, Shared Memory, Fallbacks &amp; Systemic Fault Tolerance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72630"/>
            <a:ext cx="3530649" cy="2552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472630"/>
            <a:ext cx="3530649" cy="2552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472630"/>
            <a:ext cx="3530649" cy="2552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2748855"/>
            <a:ext cx="45720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7725" y="3377505"/>
            <a:ext cx="3127109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500" b="1" i="0" u="none">
                <a:solidFill>
                  <a:srgbClr val="1E293B"/>
                </a:solidFill>
                <a:latin typeface="Plus Jakarta Sans"/>
              </a:rPr>
              <a:t>Pub/Sub Streaming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720405"/>
            <a:ext cx="29781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Asynchronous event buses (Redis Streams, Apache Kafka) decoupling agent execution and enabling event-driven reactive updates.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6974" y="2748855"/>
            <a:ext cx="457200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06974" y="3377505"/>
            <a:ext cx="3127109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500" b="1" i="0" u="none">
                <a:solidFill>
                  <a:srgbClr val="1E293B"/>
                </a:solidFill>
                <a:latin typeface="Plus Jakarta Sans"/>
              </a:rPr>
              <a:t>gRPC &amp; JSON-RPC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6974" y="3720405"/>
            <a:ext cx="29781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High-performance synchronous RPC for low-latency point-to-point agent coordination with strictly enforced protocol buffer schemas.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6224" y="2748855"/>
            <a:ext cx="457200" cy="457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66224" y="3377505"/>
            <a:ext cx="3127109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500" b="1" i="0" u="none">
                <a:solidFill>
                  <a:srgbClr val="1E293B"/>
                </a:solidFill>
                <a:latin typeface="Plus Jakarta Sans"/>
              </a:rPr>
              <a:t>FIPA-ACL &amp; Standards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224" y="3720405"/>
            <a:ext cx="29781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Formalized agent communication languages defining explicit performatives (Inform, Request, Propose, Reject) for deterministic dialog.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2025" y="2863155"/>
            <a:ext cx="228600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35562" y="2863155"/>
            <a:ext cx="200025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09099" y="2863155"/>
            <a:ext cx="17145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411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Plus Jakarta Sans"/>
              </a:rPr>
              <a:t>Inter-Agent Messaging Protocols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69827"/>
            <a:ext cx="5372100" cy="215830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2669827"/>
            <a:ext cx="5372100" cy="215830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7725" y="3384202"/>
            <a:ext cx="5060632" cy="2723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45"/>
              </a:lnSpc>
            </a:pPr>
            <a:r>
              <a:rPr sz="1650" b="1" i="0" u="none">
                <a:solidFill>
                  <a:srgbClr val="1E3A8A"/>
                </a:solidFill>
                <a:latin typeface="Plus Jakarta Sans"/>
              </a:rPr>
              <a:t>Redis &amp; Key-Value 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7725" y="3751808"/>
            <a:ext cx="48196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Ultra-low latency ephemeral state store. Used for short-term working memory, locks, message queues, execution state graphs, and active token counters.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24625" y="3384202"/>
            <a:ext cx="5060632" cy="2723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45"/>
              </a:lnSpc>
            </a:pPr>
            <a:r>
              <a:rPr sz="1650" b="1" i="0" u="none">
                <a:solidFill>
                  <a:srgbClr val="1E3A8A"/>
                </a:solidFill>
                <a:latin typeface="Plus Jakarta Sans"/>
              </a:rPr>
              <a:t>Vector DBs &amp; Event Sourcing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24625" y="3751808"/>
            <a:ext cx="48196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Long-term semantic state and historical memory stores (Pinecone, Qdrant). Combined with immutable append-only event logs for full audit replays.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25" y="2974627"/>
            <a:ext cx="238125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4625" y="2974627"/>
            <a:ext cx="304800" cy="266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476250"/>
            <a:ext cx="11601450" cy="411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Plus Jakarta Sans"/>
              </a:rPr>
              <a:t>Shared State Storage Strategies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63130"/>
            <a:ext cx="4267200" cy="2171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2025" y="3053655"/>
            <a:ext cx="3486150" cy="1047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8250"/>
              </a:lnSpc>
            </a:pPr>
            <a:r>
              <a:rPr sz="8250" b="0" i="0" u="none">
                <a:solidFill>
                  <a:srgbClr val="1D4ED8"/>
                </a:solidFill>
                <a:latin typeface="Plus Jakarta Sans ExtraBold"/>
              </a:rPr>
              <a:t>O(N²)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2025" y="4215705"/>
            <a:ext cx="3486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1E3A8A"/>
                </a:solidFill>
                <a:latin typeface="Inter"/>
              </a:rPr>
              <a:t>Message Path Complexity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9700" y="2879377"/>
            <a:ext cx="6720840" cy="2723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45"/>
              </a:lnSpc>
            </a:pPr>
            <a:r>
              <a:rPr sz="1650" b="1" i="0" u="none">
                <a:solidFill>
                  <a:srgbClr val="1E293B"/>
                </a:solidFill>
                <a:latin typeface="Plus Jakarta Sans"/>
              </a:rPr>
              <a:t>Managing Communication Overhead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9700" y="3246983"/>
            <a:ext cx="6400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Unconstrained peer-to-peer agent networks experience severe exponential message volume growth as agent count expands. Without centralized event routing or strict sub-mesh boundaries, network throughput degrades and token execution costs skyrocket.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9700" y="4047083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Architects must implement message throttling, channel scoping, and message summarization middleware.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76250"/>
            <a:ext cx="11601450" cy="411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Plus Jakarta Sans"/>
              </a:rPr>
              <a:t>Coordination Overhead Scaling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798861"/>
            <a:ext cx="1070610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Exponential Backoff Retries: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Handling transient API rate limits (HTTP 429) and model provider degradation without flooding endpoints.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13199"/>
            <a:ext cx="1070610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Dynamic Fallback Routes: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Routing subtasks to lighter/cheaper models or deterministic rule engines if primary LLM fails.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27536"/>
            <a:ext cx="107061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Human-in-the-Loop Escalation: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Seamlessly pausing state graph execution to request human intervention when confidence drops below threshold.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84761"/>
            <a:ext cx="1070610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State Checkpointing: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Saving execution snapshot to persistent storage after every node transition for instant disaster recovery.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822674"/>
            <a:ext cx="190500" cy="200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237011"/>
            <a:ext cx="190500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651349"/>
            <a:ext cx="238125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308574"/>
            <a:ext cx="190500" cy="2000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476250"/>
            <a:ext cx="11601450" cy="411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Plus Jakarta Sans"/>
              </a:rPr>
              <a:t>Fault Tolerance &amp; Cascade Prevention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116210"/>
            <a:ext cx="11049000" cy="526553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76487" y="5222974"/>
            <a:ext cx="7439025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Inter"/>
              </a:rPr>
              <a:t>Circuit breakers automatically isolate failing agents, preventing cascade failures across downstream workers.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76250"/>
            <a:ext cx="11601450" cy="411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Plus Jakarta Sans"/>
              </a:rPr>
              <a:t>Agent Circuit Breaker Architecture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1939230"/>
            <a:ext cx="537210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1939230"/>
            <a:ext cx="50292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Simulated Failure: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Injected synthetic agent timeout and tool failure into a 3-agent pipeline.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96455"/>
            <a:ext cx="50292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Circuit Breaker Trigger: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Automated detection trips circuit, preventing cascading retries.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53680"/>
            <a:ext cx="50292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Fallback Route: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Task automatically rerouted to a secondary lightweight agent with backup tools.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10905"/>
            <a:ext cx="50292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Audit Log Capture: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Full failure event and resolution sequence logged for observability.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476250"/>
            <a:ext cx="11601450" cy="411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Plus Jakarta Sans"/>
              </a:rPr>
              <a:t>Live Demo: Fault Tolerance &amp; Fallbacks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09787"/>
            <a:ext cx="1119187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547937"/>
            <a:ext cx="11601450" cy="1095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312"/>
              </a:lnSpc>
            </a:pPr>
            <a:r>
              <a:rPr sz="3750" b="0" i="0" u="none">
                <a:solidFill>
                  <a:srgbClr val="F8FAFC"/>
                </a:solidFill>
                <a:latin typeface="Plus Jakarta Sans ExtraBold"/>
              </a:rPr>
              <a:t>Hands-On: Polyglot Multi-Agent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367212"/>
            <a:ext cx="68199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94A3B8"/>
                </a:solidFill>
                <a:latin typeface="Inter"/>
              </a:rPr>
              <a:t>Building a Tri-Agent Orchestrator with State Persistence &amp; Human Fallback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72630"/>
            <a:ext cx="3530649" cy="2552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472630"/>
            <a:ext cx="3530649" cy="2552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472630"/>
            <a:ext cx="3530649" cy="2552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2748855"/>
            <a:ext cx="45720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7725" y="3377505"/>
            <a:ext cx="3127109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500" b="1" i="0" u="none">
                <a:solidFill>
                  <a:srgbClr val="1E293B"/>
                </a:solidFill>
                <a:latin typeface="Plus Jakarta Sans"/>
              </a:rPr>
              <a:t>1. Planner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720405"/>
            <a:ext cx="2978199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Decomposes user query into an execution plan graph. Generates structured JSON subtasks with clear parameters.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6974" y="2748855"/>
            <a:ext cx="457200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06974" y="3377505"/>
            <a:ext cx="3127109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500" b="1" i="0" u="none">
                <a:solidFill>
                  <a:srgbClr val="1E293B"/>
                </a:solidFill>
                <a:latin typeface="Plus Jakarta Sans"/>
              </a:rPr>
              <a:t>2. Worker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6974" y="3720405"/>
            <a:ext cx="297819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Executes domain subtasks utilizing external tools, APIs, and databases. Returns structured execution results.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6224" y="2748855"/>
            <a:ext cx="457200" cy="457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66224" y="3377505"/>
            <a:ext cx="3127109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50"/>
              </a:lnSpc>
            </a:pPr>
            <a:r>
              <a:rPr sz="1500" b="1" i="0" u="none">
                <a:solidFill>
                  <a:srgbClr val="1E293B"/>
                </a:solidFill>
                <a:latin typeface="Plus Jakarta Sans"/>
              </a:rPr>
              <a:t>3. Evaluator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224" y="3720405"/>
            <a:ext cx="2978199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Validates output quality against business rules. Triggers refinement loops or human fallback on failure.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2025" y="2863155"/>
            <a:ext cx="228600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92699" y="2863155"/>
            <a:ext cx="285750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09099" y="2863155"/>
            <a:ext cx="17145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411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Plus Jakarta Sans"/>
              </a:rPr>
              <a:t>The Tri-Agent Orchestrator Pattern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71500" y="2386905"/>
          <a:ext cx="11029949" cy="2724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97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47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66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486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483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Language Stack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Recommended Frameworks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State Persistence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Key Enterprise Features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483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475569"/>
                          </a:solidFill>
                          <a:latin typeface="Inter"/>
                        </a:rPr>
                        <a:t>Python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LangGraph, CrewAI, AutoGen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MemorySaver, RedisCheckpointer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Rich AI ecosystem, native graph orchestration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483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475569"/>
                          </a:solidFill>
                          <a:latin typeface="Inter"/>
                        </a:rPr>
                        <a:t>Java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Spring AI, LangChain4j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JDBC / Redis State Store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Enterprise Spring integration, strong typing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483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475569"/>
                          </a:solidFill>
                          <a:latin typeface="Inter"/>
                        </a:rPr>
                        <a:t>.NET / C#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Semantic Kernel, AutoGen .NET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Distributed Cache / Cosmos DB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Native C# async pipelines, Microsoft ecosystem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483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475569"/>
                          </a:solidFill>
                          <a:latin typeface="Inter"/>
                        </a:rPr>
                        <a:t>TypeScript / Node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LangGraph.js, LlamaIndex.TS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Redis / Postgres Checkpointer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475569"/>
                          </a:solidFill>
                          <a:latin typeface="Inter"/>
                        </a:rPr>
                        <a:t>Event-loop async scaling, web API integration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81025" y="2929830"/>
            <a:ext cx="169976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280791" y="2929830"/>
            <a:ext cx="26547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935587" y="2929830"/>
            <a:ext cx="28266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62279" y="2929830"/>
            <a:ext cx="38486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81025" y="3472755"/>
            <a:ext cx="169976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280791" y="3472755"/>
            <a:ext cx="26547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935587" y="3472755"/>
            <a:ext cx="28266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762279" y="3472755"/>
            <a:ext cx="38486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81025" y="4015680"/>
            <a:ext cx="169976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280791" y="4015680"/>
            <a:ext cx="26547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935587" y="4015680"/>
            <a:ext cx="28266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62279" y="4015680"/>
            <a:ext cx="38486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81025" y="4558605"/>
            <a:ext cx="169976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280791" y="4558605"/>
            <a:ext cx="26547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935587" y="4558605"/>
            <a:ext cx="282669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762279" y="4558605"/>
            <a:ext cx="38486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1500" y="476250"/>
            <a:ext cx="11601450" cy="411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Plus Jakarta Sans"/>
              </a:rPr>
              <a:t>Polyglot Multi-Agent Frameworks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1640234"/>
            <a:ext cx="7620000" cy="357753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9601" y="2106959"/>
            <a:ext cx="1892796" cy="285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585561" y="2545109"/>
            <a:ext cx="7020877" cy="1005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959"/>
              </a:lnSpc>
            </a:pPr>
            <a:r>
              <a:rPr sz="3600" b="0" i="0" u="none">
                <a:solidFill>
                  <a:srgbClr val="FFFFFF"/>
                </a:solidFill>
                <a:latin typeface="Plus Jakarta Sans ExtraBold"/>
              </a:rPr>
              <a:t>[PAUSE] Hands-On Lab 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52725" y="3703290"/>
            <a:ext cx="66865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0" i="0" u="none">
                <a:solidFill>
                  <a:srgbClr val="38BDF8"/>
                </a:solidFill>
                <a:latin typeface="Inter SemiBold"/>
              </a:rPr>
              <a:t>Module 1.3: Tri-Agent Orchestrator 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00375" y="4236690"/>
            <a:ext cx="61912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Select your stack (Python / Java / .NET) and open your lab workstation. We will resume the main presentation following the coding exercise.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1526" y="2187922"/>
            <a:ext cx="158650" cy="12382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09787"/>
            <a:ext cx="2361307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547937"/>
            <a:ext cx="11601450" cy="1095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312"/>
              </a:lnSpc>
            </a:pPr>
            <a:r>
              <a:rPr sz="3750" b="0" i="0" u="none">
                <a:solidFill>
                  <a:srgbClr val="F8FAFC"/>
                </a:solidFill>
                <a:latin typeface="Plus Jakarta Sans ExtraBold"/>
              </a:rPr>
              <a:t>Capstone Checkpoint 1: Scenario &amp; Multi-Agent Framing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367212"/>
            <a:ext cx="833437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94A3B8"/>
                </a:solidFill>
                <a:latin typeface="Inter"/>
              </a:rPr>
              <a:t>Selecting Enterprise Use Cases, Defining Agent Boundaries &amp; Mapping Topology Blueprints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920305"/>
            <a:ext cx="1070610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Automated Claims Processing: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Multi-agent system evaluating policy coverage, detecting fraud, and calculating payout limits.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34642"/>
            <a:ext cx="1070610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IT Operations &amp; Incident Response: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Autonomous agents diagnosing infrastructure alerts, executing runbooks, and escalating.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48980"/>
            <a:ext cx="1070610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Regulatory Compliance Review: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Agents scanning enterprise documents against changing legal frameworks.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63317"/>
            <a:ext cx="1070610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0F172A"/>
                </a:solidFill>
                <a:latin typeface="Inter"/>
              </a:rPr>
              <a:t>Architect Deliverable v1:</a:t>
            </a:r>
            <a:r>
              <a:rPr sz="1275" b="0" i="0" u="none">
                <a:solidFill>
                  <a:srgbClr val="475569"/>
                </a:solidFill>
                <a:latin typeface="Inter"/>
              </a:rPr>
              <a:t> Map top-level agent boundaries, delegation rules, and primary state store strategy.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944117"/>
            <a:ext cx="142875" cy="200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358455"/>
            <a:ext cx="190500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772792"/>
            <a:ext cx="19050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187130"/>
            <a:ext cx="219075" cy="2000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476250"/>
            <a:ext cx="11601450" cy="411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Plus Jakarta Sans"/>
              </a:rPr>
              <a:t>Enterprise Capstone Scenario Selection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015680"/>
            <a:ext cx="2541240" cy="133915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7419" y="2143125"/>
            <a:ext cx="2541240" cy="133915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3339" y="4015680"/>
            <a:ext cx="2541240" cy="133915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259" y="2143125"/>
            <a:ext cx="2541240" cy="133915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1500" y="3729930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7995" y="4215705"/>
            <a:ext cx="2248249" cy="2723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45"/>
              </a:lnSpc>
            </a:pPr>
            <a:r>
              <a:rPr sz="1650" b="1" i="0" u="none">
                <a:solidFill>
                  <a:srgbClr val="1E293B"/>
                </a:solidFill>
                <a:latin typeface="Plus Jakarta Sans"/>
              </a:rPr>
              <a:t>Day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4583310"/>
            <a:ext cx="214119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Topology Blueprint &amp; Multi-Agent Framing (v1)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53915" y="2343150"/>
            <a:ext cx="2248249" cy="2723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45"/>
              </a:lnSpc>
            </a:pPr>
            <a:r>
              <a:rPr sz="1650" b="1" i="0" u="none">
                <a:solidFill>
                  <a:srgbClr val="1E293B"/>
                </a:solidFill>
                <a:latin typeface="Plus Jakarta Sans"/>
              </a:rPr>
              <a:t>Day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7444" y="2710755"/>
            <a:ext cx="214119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MCP Integration &amp; Governance Matrix (v2)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9835" y="4215705"/>
            <a:ext cx="2248249" cy="2723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45"/>
              </a:lnSpc>
            </a:pPr>
            <a:r>
              <a:rPr sz="1650" b="1" i="0" u="none">
                <a:solidFill>
                  <a:srgbClr val="1E293B"/>
                </a:solidFill>
                <a:latin typeface="Plus Jakarta Sans"/>
              </a:rPr>
              <a:t>Day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3364" y="4583310"/>
            <a:ext cx="214119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Cloud Deployment &amp; Security Perimeter (v3)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25755" y="2343150"/>
            <a:ext cx="2248249" cy="2723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45"/>
              </a:lnSpc>
            </a:pPr>
            <a:r>
              <a:rPr sz="1650" b="1" i="0" u="none">
                <a:solidFill>
                  <a:srgbClr val="1E293B"/>
                </a:solidFill>
                <a:latin typeface="Plus Jakarta Sans"/>
              </a:rPr>
              <a:t>Day 4-5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79284" y="2710755"/>
            <a:ext cx="214119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Token Optimization &amp; Final Capstone Defense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476250"/>
            <a:ext cx="11601450" cy="411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Plus Jakarta Sans"/>
              </a:rPr>
              <a:t>Capstone Architecture Roadmap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37345" y="364420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573265" y="364420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409184" y="364420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245104" y="364420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7492" y="476250"/>
            <a:ext cx="1356866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914400"/>
            <a:ext cx="1160145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F8FAFC"/>
                </a:solidFill>
                <a:latin typeface="Plus Jakarta Sans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828800"/>
            <a:ext cx="11049000" cy="2933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31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Transitioning to Capstone Working Session v1 Blueprinting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465040"/>
            <a:ext cx="11049000" cy="200025"/>
          </a:xfrm>
          <a:prstGeom prst="rect">
            <a:avLst/>
          </a:prstGeom>
          <a:noFill/>
        </p:spPr>
        <p:txBody>
          <a:bodyPr wrap="square" lIns="295275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94A3B8"/>
                </a:solidFill>
                <a:latin typeface="Inter"/>
              </a:rPr>
              <a:t>Open Excalidraw Workspace • Enterprise Capstone Checkpoint 1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7075" y="2484090"/>
            <a:ext cx="219075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" y="1267717"/>
            <a:ext cx="11049000" cy="9429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71500" y="2210692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1500" y="2982217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71500" y="3753742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1500" y="4525267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1500" y="220116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1500" y="220116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1500" y="297269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71500" y="297269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1500" y="374421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1500" y="374421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1500" y="451574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1500" y="451574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1500" y="528726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71500" y="528726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496317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66875" y="1410592"/>
            <a:ext cx="995362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https://substackcdn.com/image/fetch/$s_!YwR0!,f_auto,q_auto:good,fl_progressive:steep/https%3A%2F%2Fsubstack-post-media.s3.amazonaws.com%2Fpublic%2Fimages%2F89a44326-9caf-45d8-b5cc-321e15b66dbb_1600x823.png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6875" y="1829692"/>
            <a:ext cx="9953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departmentofproduct.substack.com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353567"/>
            <a:ext cx="857250" cy="4762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666875" y="2360711"/>
            <a:ext cx="995362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https://miro.medium.com/1*sykbU66OV5WB3CZpLMofTw.png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6875" y="2594074"/>
            <a:ext cx="9953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medium.com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125092"/>
            <a:ext cx="857250" cy="4762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666875" y="3132236"/>
            <a:ext cx="995362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https://content-media-cdn.codefinity.com/articles/59496e4a-9394-434a-b652-92e8584bda47/architectures_comparing.png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66875" y="3365599"/>
            <a:ext cx="9953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codefinity.com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896617"/>
            <a:ext cx="857250" cy="4762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666875" y="3903761"/>
            <a:ext cx="995362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https://excalidraw.nyc3.cdn.digitaloceanspaces.com/lp-cms/media/Software%20Architecture%20Diagrams%20-%20a%20microservices%20pattern.png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66875" y="4137124"/>
            <a:ext cx="9953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plus.excalidraw.com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668142"/>
            <a:ext cx="857250" cy="4762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666875" y="4675286"/>
            <a:ext cx="995362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https://digitalvarys.com/wp-content/uploads/2019/09/Circuit-Breaker-Design-Pattern.png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66875" y="4908649"/>
            <a:ext cx="9953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digitalvarys.com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5525392"/>
            <a:ext cx="857250" cy="4762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666875" y="5439667"/>
            <a:ext cx="9953625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475569"/>
                </a:solidFill>
                <a:latin typeface="Inter"/>
              </a:rPr>
              <a:t>https://pxl-lboroacuk.terminalfour.net/fit-in/1280x720/filters:quality(80)/filters:format(webp)/0x0:1280x720/prod01/lboro-cdn-pxl-media/media/media/study/ug/2027/courseheroimages/d6340-4043-engineering-physics-bsc-1280X720.jpg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66875" y="5858767"/>
            <a:ext cx="9953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www.lboro.ac.uk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500" y="476250"/>
            <a:ext cx="11601450" cy="411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Plus Jakarta Sans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26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4</cp:revision>
  <dcterms:created xsi:type="dcterms:W3CDTF">2013-01-27T09:14:16Z</dcterms:created>
  <dcterms:modified xsi:type="dcterms:W3CDTF">2026-10-01T09:08:39Z</dcterms:modified>
  <cp:category/>
</cp:coreProperties>
</file>