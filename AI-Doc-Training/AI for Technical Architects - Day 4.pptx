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40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3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08907"/>
            <a:ext cx="3348037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732782"/>
            <a:ext cx="950118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oppins"/>
              </a:rPr>
              <a:t>Security, FinOps &amp; Token Economics for Enterprise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062412"/>
            <a:ext cx="8096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Lato"/>
              </a:rPr>
              <a:t>Architecting Hardened Zero-Trust Agent Runtimes, Elastic Token Infrastructure, TCO/ROI Models, and Latency-Cost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2875" y="1285875"/>
            <a:ext cx="4286250" cy="4286250"/>
          </a:xfrm>
          <a:prstGeom prst="roundRect">
            <a:avLst>
              <a:gd name="adj" fmla="val 11111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2619375" cy="5133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1247775"/>
            <a:ext cx="2619375" cy="5133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247775"/>
            <a:ext cx="2619375" cy="5133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247775"/>
            <a:ext cx="2619375" cy="5133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1924050"/>
            <a:ext cx="22202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1. Agentic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05050"/>
            <a:ext cx="21145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OWASP Top 10 for Agentic Applications, Zero-Trust boundaries, sandboxing, and I/O guardrail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075" y="1924050"/>
            <a:ext cx="22202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2. Token Economics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075" y="2305050"/>
            <a:ext cx="21145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Elastic scaling patterns, multi-tiered semantic caching (Redis), token profiling, and dynamic model routing.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1924050"/>
            <a:ext cx="22202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3. FinOps &amp;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2305050"/>
            <a:ext cx="21145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3-Year Enterprise TCO modeling, unit economics per transaction, ROI calculators, and NFR tradeoff matrices.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7825" y="1924050"/>
            <a:ext cx="222027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4. Capstone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7825" y="2305050"/>
            <a:ext cx="21145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Integration of security perimeter, token optimization, and cost-latency tradeoff models into team blueprints.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52400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8075" y="1524000"/>
            <a:ext cx="33337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1524000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1524000"/>
            <a:ext cx="3048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Day 4 Executive Agenda &amp; Objectives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43425" y="1957387"/>
            <a:ext cx="31051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0B981"/>
                </a:solidFill>
                <a:latin typeface="Lato"/>
              </a:rPr>
              <a:t>PART 1 •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437" y="2252662"/>
            <a:ext cx="900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oppins"/>
              </a:rPr>
              <a:t>Security in Agentic Systems &amp; Zero-Trust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3291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Mitigating indirect prompt injections, state poisoning, unauthorized tool escalation, and execution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381625" cy="3371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47775"/>
            <a:ext cx="5381625" cy="3371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Critical Agent Attack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Architectural Vulnerabilities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ASI01: Agent Goal Hijack: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Attacker alters agent system directives via untrusted input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ASI02: Tool Misuse &amp; Exploitation: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Agents invoke tools with unintended parameters causing data leaks.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ASI03: Identity &amp; Privilege Abuse: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Agents inherit excessive ambient permissions or static API tokens.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7528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ASI06: Memory &amp; Context Poisoning: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Malicious data planted in RAG vector store infects downstream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ASI05: Unexpected Code Execution (RCE):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Dynamic interpreter output sandbox escapes.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ASI07: Insecure Inter-Agent Comm: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Unauthenticated P2P agent message spoofing on internal bus.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ASI08: Cascading Failures: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Autonomous agent loops propagating unverified errors system-wide.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8475" y="37528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ASI10: Rogue Agents: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Subverted autonomous agents executing actions outside defined boundaries.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90712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19362"/>
            <a:ext cx="23812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148012"/>
            <a:ext cx="23812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776662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1890712"/>
            <a:ext cx="23812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2519362"/>
            <a:ext cx="2190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575" y="3148012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575" y="3776662"/>
            <a:ext cx="21907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OWASP Top 10 for Agentic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247775"/>
            <a:ext cx="53816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2477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Least-Agency Principle: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Scoped JIT ephemeral tokens issued per task step rather than long-lived credentials.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642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Containerized Sandboxing: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Code interpreter tools executed inside isolated Docker / gVisor sandboxes without host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050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Agentic Identity Management: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Non-human identities with cryptographic signature validation on all tool invocations.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3372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Schema Enforcers: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Dynamic JSON-schema validation rejecting untrusted parameters before execution.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57300"/>
            <a:ext cx="536257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15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002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28887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5753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Zero-Trust Agent Sandbox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3530500" cy="2586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1247775"/>
            <a:ext cx="3530649" cy="2586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247775"/>
            <a:ext cx="3530500" cy="25860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485900"/>
            <a:ext cx="31769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1. Pre-Execution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66900"/>
            <a:ext cx="30256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Intercepts incoming prompt payloads and external retrieval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300" y="1485900"/>
            <a:ext cx="317711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2. Execution Intent Gates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300" y="1866900"/>
            <a:ext cx="302582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Validates agent decisions before tool triggers occur.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550" y="1485900"/>
            <a:ext cx="31769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3. Post-Execution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550" y="1866900"/>
            <a:ext cx="30256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Validates generated responses and data payloads prior to egress.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239553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LlamaGuard &amp; NeMo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100" y="279558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Prompt Injection Classifiers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319563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PII &amp; Sensitive Data Anonymizers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0200" y="2395537"/>
            <a:ext cx="26829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Goal Drift Monitors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0200" y="2795587"/>
            <a:ext cx="26829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Deterministic Policy Engines (OPA)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0200" y="3195637"/>
            <a:ext cx="26829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Rate &amp; Budget Threshold Locks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9450" y="239553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Hallucination &amp; Groundedness Evals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9450" y="279558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Output Structure (Regex / JSON)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9450" y="3195637"/>
            <a:ext cx="2682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Exfiltration &amp; Canary Token Checks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419350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819400"/>
            <a:ext cx="1905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219450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300" y="2419350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300" y="2819400"/>
            <a:ext cx="1714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300" y="3219450"/>
            <a:ext cx="1714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2419350"/>
            <a:ext cx="1714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2819400"/>
            <a:ext cx="1714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3219450"/>
            <a:ext cx="171450" cy="2000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Input/Output Guardrail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052887"/>
            <a:ext cx="8763000" cy="819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985962"/>
            <a:ext cx="297180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050" y="2452687"/>
            <a:ext cx="11791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oppins"/>
              </a:rPr>
              <a:t>Lab Breakout: Secure Agent Sandbox &amp;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3195637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3C5FD"/>
                </a:solidFill>
                <a:latin typeface="Lato"/>
              </a:rPr>
              <a:t>In this practical breakout, architect teams will implement input sanitization, dynamic tool scoping, and output guardrail policies.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2062162"/>
            <a:ext cx="952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75" y="4252912"/>
            <a:ext cx="10763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DURATION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30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252912"/>
            <a:ext cx="34194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TECH STACK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Python / Java / .NET Guardrails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5" y="4252912"/>
            <a:ext cx="31051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ARTIFACT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Hardened Agent Execution Repo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700" y="4448175"/>
            <a:ext cx="2362200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24337" y="1957387"/>
            <a:ext cx="3743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0B981"/>
                </a:solidFill>
                <a:latin typeface="Lato"/>
              </a:rPr>
              <a:t>PART 2 • ARCHITECTURE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437" y="2252662"/>
            <a:ext cx="900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oppins"/>
              </a:rPr>
              <a:t>Scaling Patterns, Elastic Compute &amp; Token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3291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Horizontal agent orchestration, state persistence, multi-tiered semantic caching, and dynamic model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381625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47775"/>
            <a:ext cx="5381625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Stateful vs. Stateless Agent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Auto-Scaling &amp; Load Allocation 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Stateless Worker Pools: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Decouple LLM reasoning workers from state; scale dynamically via K8s HPA based on queue depth.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External State Persistence: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Store state graphs in Redis / Cosmos DB to allow any worker to resume agent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Async Message Broker: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Use RabbitMQ / Kafka for non-blocking inter-agent tool delegation.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475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TTFT &amp; Rate Limit Triggers: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Scale instance replicas based on Provider Token-Per-Minute (TPM) saturation.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Queue Backpressure: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Throttle low-priority background workers during enterprise peak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Multi-Region Provider Pooling: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Load balance across AWS Bedrock, Azure OpenAI, and GCP Vertex endpoints.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90712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19362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148012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1890712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519362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3148012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Elastic Agent Compute Scaling 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247775"/>
            <a:ext cx="53816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2477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Exact Match Cache (L1):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Key-value hash lookup for deterministic tool queries (0ms LLM cost).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642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Vector Similarity Cache (L2):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Embeds incoming prompts and checks Redis Vector DB for semantic equivalence (&gt;0.92 cosine sim).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0507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Latency Impact: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Cuts response latency from 2,500ms down to &lt;40ms for cached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33725"/>
            <a:ext cx="50387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Cost Reduction: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Eliminates up to 40% of repetitive prompt token expenditure.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57300"/>
            <a:ext cx="5362575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15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002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28887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5753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Multi-Tiered Semantic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3530500" cy="18788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1247775"/>
            <a:ext cx="3530649" cy="18788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247775"/>
            <a:ext cx="3530500" cy="18788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485900"/>
            <a:ext cx="31769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Tier 1: High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66900"/>
            <a:ext cx="30256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Models: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GPT-4o, Claude 3.5 Sonnet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150268"/>
            <a:ext cx="30256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Use Cases: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Primary planner, complex policy synthesis, multi-step orchestration.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07481"/>
            <a:ext cx="3025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F46E5"/>
                </a:solidFill>
                <a:latin typeface="Lato"/>
              </a:rPr>
              <a:t>Cost: ~$2.50 / 1M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300" y="1485900"/>
            <a:ext cx="317711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Tier 2: Mid-Range Utility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300" y="1866900"/>
            <a:ext cx="3025824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Models: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GPT-4o-mini, Claude 3.5 Haiku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300" y="2150268"/>
            <a:ext cx="3025824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Use Cases: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Entity extraction, JSON formatting, Worker agents, preliminary intent classification.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00" y="2707481"/>
            <a:ext cx="302582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Lato"/>
              </a:rPr>
              <a:t>Cost: ~$0.15 / 1M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550" y="1485900"/>
            <a:ext cx="31769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Tier 3: SLM / Local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550" y="1866900"/>
            <a:ext cx="3025675" cy="207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Models: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Llama 3.3 8B, Phi-4, Mistral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550" y="2150268"/>
            <a:ext cx="30256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Use Cases: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Simple tool calling, regex generation, local offline execution in sandboxes.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550" y="2707481"/>
            <a:ext cx="3025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Lato"/>
              </a:rPr>
              <a:t>Cost: ~$0.02 / 1M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Dynamic Model Routing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3850" y="1957387"/>
            <a:ext cx="3924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0B981"/>
                </a:solidFill>
                <a:latin typeface="Lato"/>
              </a:rPr>
              <a:t>PART 3 • ENTERPRISE FINOPS &amp;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437" y="2252662"/>
            <a:ext cx="900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oppins"/>
              </a:rPr>
              <a:t>TCO / ROI Modeling &amp; NFR Tradeoff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3291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Comprehensive cost breakdown, unit economics per transaction, 3-year TCO modeling, and financial justification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1049000" cy="2667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57712" y="204549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3462" y="2009775"/>
            <a:ext cx="552450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Lato"/>
              </a:rPr>
              <a:t>LLM Token Consumption (45%):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Inference calls across Planner &amp; Worker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57712" y="244078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3462" y="2405062"/>
            <a:ext cx="60293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Lato"/>
              </a:rPr>
              <a:t>Vector DB &amp; Cache Infrastructure (20%):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Memory storage, Redis, embedding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7712" y="283606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3462" y="2800350"/>
            <a:ext cx="56864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Lato"/>
              </a:rPr>
              <a:t>Governance, Security &amp; Evals (15%):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Guardrail API calls, red-teaming, CI/CD/CT.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7712" y="323135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3462" y="3195637"/>
            <a:ext cx="54578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Lato"/>
              </a:rPr>
              <a:t>Operations &amp; Maintenance (20%):</a:t>
            </a:r>
            <a:r>
              <a:rPr b="0" sz="1275" i="0" u="none">
                <a:solidFill>
                  <a:srgbClr val="475569"/>
                </a:solidFill>
                <a:latin typeface="Lato"/>
              </a:rPr>
              <a:t> Cloud hosting, monitoring, HITL labor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3-Year Enterprise Agent TCO Drivers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343025"/>
            <a:ext cx="11049000" cy="2314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343025"/>
          <a:ext cx="11048998" cy="231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07108"/>
                <a:gridCol w="2064246"/>
                <a:gridCol w="1743372"/>
                <a:gridCol w="2353121"/>
                <a:gridCol w="2781151"/>
              </a:tblGrid>
              <a:tr h="46291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Architecture Tier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Latency (TTFT)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Cost / 1k Claims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Accuracy / Benchmark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Architect Recommendation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Tier 1 Only (GPT-4o)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1,800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$42.50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94.8%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Over-Engineered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Tier 2 Only (GPT-4o-mini)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420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$2.80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81.2%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Accuracy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Dynamic Cascade + Cache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310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$6.20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93.9%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Optimal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Lato"/>
                        </a:rPr>
                        <a:t>Local SLM + Guardrails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180 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$1.10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76.5%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Internal Tasks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382905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1" u="none">
                <a:solidFill>
                  <a:srgbClr val="64748B"/>
                </a:solidFill>
                <a:latin typeface="Lato"/>
              </a:rPr>
              <a:t>Key Architectural Takeaway: Implementing dynamic cascades with semantic caching achieves 99% of Tier 1 accuracy while reducing per-transaction unit cost by 85%.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271712"/>
            <a:ext cx="210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78608" y="2271712"/>
            <a:ext cx="2064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42854" y="2271712"/>
            <a:ext cx="1743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86227" y="2271712"/>
            <a:ext cx="2353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39348" y="2271712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728912"/>
            <a:ext cx="210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8608" y="2728912"/>
            <a:ext cx="2064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42854" y="2728912"/>
            <a:ext cx="1743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86227" y="2728912"/>
            <a:ext cx="2353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39348" y="2728912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186112"/>
            <a:ext cx="210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8608" y="3186112"/>
            <a:ext cx="2064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42854" y="3186112"/>
            <a:ext cx="1743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86227" y="3186112"/>
            <a:ext cx="2353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348" y="3186112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643312"/>
            <a:ext cx="21071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78608" y="3643312"/>
            <a:ext cx="2064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42854" y="3643312"/>
            <a:ext cx="1743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6227" y="3643312"/>
            <a:ext cx="2353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9348" y="3643312"/>
            <a:ext cx="27811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798" y="1943100"/>
            <a:ext cx="1276350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798" y="2400300"/>
            <a:ext cx="1095375" cy="2190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798" y="2857500"/>
            <a:ext cx="1600200" cy="2190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798" y="3314700"/>
            <a:ext cx="1428750" cy="2190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NFR Tradeoff Matrix: Model Tiering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1104900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438525"/>
            <a:ext cx="110490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Lato"/>
              </a:rPr>
              <a:t>Applying prompt compression, L1/L2 semantic caching, and dynamic tier routing produces a cumulative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68% cost reduction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without compromising decision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Impact of FinOps Optimization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381625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47775"/>
            <a:ext cx="5381625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9362" y="2014537"/>
            <a:ext cx="14859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10B981"/>
                </a:solidFill>
                <a:latin typeface="Poppins"/>
              </a:rPr>
              <a:t>312%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3112" y="2719387"/>
            <a:ext cx="2438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Lato SemiBold"/>
              </a:rPr>
              <a:t>Projected 3-Year Enterprise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3487" y="3024187"/>
            <a:ext cx="4057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Based on 1.2M Annual Transactions in Automated Claims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Quantifiable ROI Value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475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Cycle Time Reduction: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Processing time dropped from 48 hours to 4 minutes per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475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Operational Cost Shift: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Cost per claim reduced from $18.50 (manual) to $2.10 (Agent + HITL).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Capacity Multiplier: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Architect teams scale operations by 8x without linear headcount increase.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189071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575" y="2519362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3148012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ROI Assessment &amp; Financial ROI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4352925"/>
            <a:ext cx="9229725" cy="819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685925"/>
            <a:ext cx="297180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0050" y="2152650"/>
            <a:ext cx="1179195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FFFFF"/>
                </a:solidFill>
                <a:latin typeface="Poppins"/>
              </a:rPr>
              <a:t>Lab Breakout: Token Profiling &amp; Caching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" y="3495675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3C5FD"/>
                </a:solidFill>
                <a:latin typeface="Lato"/>
              </a:rPr>
              <a:t>Hands-on coding session: Implement token counting middleware, semantic caching with Redis, and model router fallback in code.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1762125"/>
            <a:ext cx="952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75" y="4552950"/>
            <a:ext cx="10763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DURATION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50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552950"/>
            <a:ext cx="35718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TECH STACK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Python / Java / .NET + Redis / LiteLLM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0275" y="4552950"/>
            <a:ext cx="34194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Lato"/>
              </a:rPr>
              <a:t>ARTIFACT</a:t>
            </a:r>
            <a:r>
              <a:rPr b="1" sz="1200" i="0" u="none">
                <a:solidFill>
                  <a:srgbClr val="FFFFFF"/>
                </a:solidFill>
                <a:latin typeface="Lato"/>
              </a:rPr>
              <a:t>Cost-Optimized Model Router Code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0700" y="4448175"/>
            <a:ext cx="2362200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76725" y="1957387"/>
            <a:ext cx="3638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0B981"/>
                </a:solidFill>
                <a:latin typeface="Lato"/>
              </a:rPr>
              <a:t>PART 4 • CAPSTONE PROJECT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5437" y="2252662"/>
            <a:ext cx="900112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oppins"/>
              </a:rPr>
              <a:t>Capstone Checkpoint 4: Cost, Latency &amp; Governance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3291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Finalizing team capstone specifications with FinOps models, zero-trust security perimeters, and NFR targets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5381625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47775"/>
            <a:ext cx="5381625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Required Blueprint Additions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1485900"/>
            <a:ext cx="51206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oppins SemiBold"/>
              </a:rPr>
              <a:t>Jury Presentation Checklist (Day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18669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Security &amp; Guardrail Spec: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Map OWASP threat mitigations and zero-trust sandbox boundaries for capstone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49555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FinOps Financial Model: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3-year TCO calculation and estimated token cost per transaction for your scenario.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124200"/>
            <a:ext cx="4533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Lato"/>
              </a:rPr>
              <a:t>NFR Tradeoff Matrix: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Define latency targets (TTFT), model tier routing rules, and semantic cache policies.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475" y="186690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Topology Architecture Diagram (Day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22669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MCP &amp; HITL Decision Boundaries (Day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266700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Cloud Deployment &amp; CI/CD/CT Pipeline (Day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30670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FinOps, Security &amp; TCO Tradeoff Blueprint (Day 4)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9071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19362"/>
            <a:ext cx="1428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148012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1890712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290762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2690812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090862"/>
            <a:ext cx="190500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Capstone Checkpoint 4 Deliverables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4086225"/>
            <a:ext cx="50673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0545" y="2390775"/>
            <a:ext cx="7270908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3390900"/>
            <a:ext cx="80772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Lato"/>
              </a:rPr>
              <a:t>Day 4 Wrap-Up • Next Session: Day 5 - Domain-Driven Design &amp; Capstone Jury Defense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247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009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009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13977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https://hidekazu-konishi.com/images/ai_agent_defense_in_depth_model_001.png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6311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hidekazu-konishi.com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21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1693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Lato"/>
              </a:rPr>
              <a:t>https://cdn.sanity.io/images/sy1jschh/production/ad2e9a04f92158f9f2ab372b363832f6c47de73e-1382x1056.png?w=3840&amp;q=80&amp;fit=clip&amp;auto=format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4026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redis.io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9620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