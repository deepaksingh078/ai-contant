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0752"/>
            <a:ext cx="3390900" cy="314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55577"/>
            <a:ext cx="11601450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0" sz="4200" i="0" u="none">
                <a:solidFill>
                  <a:srgbClr val="FFFFFF"/>
                </a:solidFill>
                <a:latin typeface="Poppins SemiBold"/>
              </a:rPr>
              <a:t>AI Protocols, HITL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721298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Standardizing Agent Tooling, Multi-Agent Interoperability (MCP vs UTCP / A2A / A2UI), and Enterprise Decision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7925"/>
            <a:ext cx="5372100" cy="2676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47925"/>
            <a:ext cx="5372100" cy="2676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724150"/>
            <a:ext cx="5060632" cy="31432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Session 1: Protocols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1337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Mod 4.1 (45 Mins):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Enterprise Interoperability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4766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Model Context Protocol (MCP)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8195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UTCP vs MCP &amp; Agent-to-Agent (A2A)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1624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Agent-to-UI (A2UI / AG-UI) Design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5053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Protocol Selection Criteria for Enterprise Architectures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724150"/>
            <a:ext cx="5060632" cy="31432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Session 2: HITL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1337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Mod 3.1, 3.2 &amp; 4.2 (135 Mins):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Control &amp;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4766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Verification Gates &amp; Threshold Escalation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8195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Compliance Audit Trail Schema &amp; Active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1624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Hands-On Lab: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MCP Server + HITL Approval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5053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Capstone Checkpoint 2: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Governance Mapping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771775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771775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Day 2 Executive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487959"/>
            <a:ext cx="107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Lato"/>
              </a:rPr>
              <a:t>MODULE 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97509"/>
            <a:ext cx="8071008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FFFFFF"/>
                </a:solidFill>
                <a:latin typeface="Poppins SemiBold"/>
              </a:rPr>
              <a:t>Enterprise AI Protocols Deep-Dive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58899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969990"/>
            <a:ext cx="7543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Standardizing model-to-tool connections, peer agent collaboration, and agentic UI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871787"/>
            <a:ext cx="1070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Eliminates $M Point-to-Point Integrations: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Standardized protocols break down custom, fragile glue code between disparate LLM frameworks and legacy enterprise APIs.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0043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Centralized Governance &amp; Security Surface: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Replaces ad-hoc function calling with unified authorization, access scopes, and schema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0048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Vendor Neutrality &amp; Model Agnosticism: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Decouples model provider capabilities (OpenAI, Anthropic, Gemini, Llama) from application context and tool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0053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Structured Tool &amp; Context Discovery: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Enables dynamic runtime discovery of capabilities, prompt templates, and data schemas across polyglot microservices.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86075"/>
            <a:ext cx="2381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14725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477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14825"/>
            <a:ext cx="23812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Standardizing Agent Protocols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66987"/>
            <a:ext cx="3530649" cy="243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566987"/>
            <a:ext cx="3530649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566987"/>
            <a:ext cx="3530649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33289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Tools Primitive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738562"/>
            <a:ext cx="30543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Callable functions exposed to the LLM. Enforces dynamic input schema (JSON Schema) and requires explicit client or human execution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8874" y="33289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Resources Primitive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738562"/>
            <a:ext cx="30543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Data containers (files, API responses, DB records) exposed via standard URIs. Provides static or dynamic context injection directly into model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8124" y="33289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Prompts Primitive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738562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Pre-packaged workflow templates and multi-step prompt guides exposed by servers to standardize enterprise reasoning patterns.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843212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2843212"/>
            <a:ext cx="266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124" y="2843212"/>
            <a:ext cx="3429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Model Context Protocol (MCP) 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7643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MCP Host: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The overarching AI application (IDE, Chat app, Orchestrator) managing model state and client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508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MCP Client: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Embedded in the Host; negotiates capability protocols, translates LLM requests, and maintains 1:1 connections to servers.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3373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MCP Server: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Lightweight adapter exposing enterprise resources, databases, or REST endpoints over standard JSON-RPC interface.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1428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48025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MCP Architecture Topology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333625"/>
          <a:ext cx="11048998" cy="2905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74775"/>
                <a:gridCol w="2012305"/>
                <a:gridCol w="3328838"/>
                <a:gridCol w="3933080"/>
              </a:tblGrid>
              <a:tr h="72628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Transport 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Communication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Primary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Architectural Tradeoffs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Standard I/O (stdio)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Synchronous / Local Process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Local CLI tools, IDE Extensions, Local Desktop Assistants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Zero network overhead; strictly local execution boundary.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Server-Sent Events (SSE)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HTTP / Streamed Push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Distributed Cloud Microservices, Enterprise APIs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Remote access via HTTP POST/GET; requires network security &amp; OAuth.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628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JSON-RPC 2.0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Structured Messages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Universal payload standard across stdio and SSE transports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Lightweight, strict schema validation, request-response &amp; notifications.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3024187"/>
            <a:ext cx="1774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6275" y="3024187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580" y="3024187"/>
            <a:ext cx="33288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7419" y="3024187"/>
            <a:ext cx="393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757612"/>
            <a:ext cx="1774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46275" y="3757612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8580" y="3757612"/>
            <a:ext cx="33288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7419" y="3757612"/>
            <a:ext cx="393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491037"/>
            <a:ext cx="1774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6275" y="4491037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8580" y="4491037"/>
            <a:ext cx="33288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7419" y="4491037"/>
            <a:ext cx="393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224462"/>
            <a:ext cx="1774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6275" y="5224462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8580" y="5224462"/>
            <a:ext cx="33288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7419" y="5224462"/>
            <a:ext cx="3933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MCP Transport &amp; Messaging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62225"/>
            <a:ext cx="5372100" cy="2447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62225"/>
            <a:ext cx="5372100" cy="2447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83845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Model Context Protocol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2480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Scope: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Full Context + Tooling + Prompts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909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Architecture: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Stateful client-server architecture with persistent connection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624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Primary Focus: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Anthropic/Linux Foundation open standard for model-to-environment context connection.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83845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Universal Tool Protocol (UTCP)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2480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Scope: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Pure tool invocation &amp; function execution contract.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5909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Architecture: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Stateless request-response execution payload specification.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624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Primary Focus: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Ultra-lightweight function calling optimization across low-latency microservice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Universal Tool Protocol (UTCP)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81287"/>
            <a:ext cx="3530649" cy="2209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681287"/>
            <a:ext cx="3530649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681287"/>
            <a:ext cx="3530649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34432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Agent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852862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JSON-LD capability manifests detailing an agent's domain skills, required inputs, trust score, and authentication prerequisites.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8874" y="34432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Task Delegation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852862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Horizontal task handoff protocol enabling cross-framework, cross-cloud collaboration between autonomous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8124" y="34432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Asynchronous 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852862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HTTP/2 and Server-Sent Events transport allowing long-running multi-agent tasks with status telemetry and streaming callbacks.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57512"/>
            <a:ext cx="3429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2957512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124" y="2957512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Agent-to-Agent (A2A) 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531268"/>
          <a:ext cx="11048999" cy="2509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68872"/>
                <a:gridCol w="2782044"/>
                <a:gridCol w="2963763"/>
                <a:gridCol w="3134320"/>
              </a:tblGrid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Protocol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MCP (Anthropic/LF)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A2A (Google Ecosystem)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AG-UI / A2UI Standard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Integration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Vertical (Model → Tools/Data)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Horizontal (Agent → Agent)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Frontend (Agent → User Interface)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Transport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JSON-RPC over stdio / SSE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HTTP/S + JSON-LD Manifests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WebSocket / Web Components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Core Primitive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Tools, Resources &amp; Prompts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Agent Cards &amp; Delegated Tasks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Dynamic Generative Components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96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Enterprise Fit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Legacy API &amp; DB Data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Multi-department Collaboration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Adaptive Human-Facing Apps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3007518"/>
            <a:ext cx="21688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0372" y="3007518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22416" y="3007518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6179" y="3007518"/>
            <a:ext cx="31343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512343"/>
            <a:ext cx="21688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0372" y="3512343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22416" y="3512343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86179" y="3512343"/>
            <a:ext cx="31343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017168"/>
            <a:ext cx="21688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0372" y="4017168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2416" y="4017168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86179" y="4017168"/>
            <a:ext cx="31343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521993"/>
            <a:ext cx="21688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0372" y="4521993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416" y="4521993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6179" y="4521993"/>
            <a:ext cx="31343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5026818"/>
            <a:ext cx="21688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0372" y="5026818"/>
            <a:ext cx="2782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416" y="5026818"/>
            <a:ext cx="2963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86179" y="5026818"/>
            <a:ext cx="31343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Protocol Comparison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19375"/>
            <a:ext cx="5372100" cy="2333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619375"/>
            <a:ext cx="5372100" cy="2333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89560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Generative Micro-Frontends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305175"/>
            <a:ext cx="4819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Rather than sending raw text strings, agents emit declarative UI component specifications (JSON schema) that client applications render as native UI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410527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Enables interactive forms, charts, and approval widgets generated dynamically based on task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89560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Real-Time Human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30517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A2UI bridges autonomous agent reasoning with human interaction by streaming execution state directly into user interface widgets.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87667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Allows human users to modify agent parameters, approve actions, or inject missing context directly within dynamic UI cards.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Agent-to-UI (A2UI) Frontends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28887"/>
            <a:ext cx="1070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Are you exposing legacy database or internal REST API to an agent?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→ </a:t>
            </a:r>
            <a:r>
              <a:rPr b="0" sz="1200" i="1" u="none">
                <a:solidFill>
                  <a:srgbClr val="334155"/>
                </a:solidFill>
                <a:latin typeface="Lato"/>
              </a:rPr>
              <a:t>Use MCP Server (Vertical Tool &amp; Resource Adapter).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57537"/>
            <a:ext cx="1070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Do you need two independent agents across teams/clouds to delegate tasks?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→ </a:t>
            </a:r>
            <a:r>
              <a:rPr b="0" sz="1200" i="1" u="none">
                <a:solidFill>
                  <a:srgbClr val="334155"/>
                </a:solidFill>
                <a:latin typeface="Lato"/>
              </a:rPr>
              <a:t>Use A2A Protocol with published Agent Cards (Horizontal Orchestration).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86187"/>
            <a:ext cx="1070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Does the agent need to render rich interactive forms or widgets for a human?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→ </a:t>
            </a:r>
            <a:r>
              <a:rPr b="0" sz="1200" i="1" u="none">
                <a:solidFill>
                  <a:srgbClr val="334155"/>
                </a:solidFill>
                <a:latin typeface="Lato"/>
              </a:rPr>
              <a:t>Use A2UI / AG-UI protocol specification (Frontend Rendering).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14837"/>
            <a:ext cx="1070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Are you building high-frequency, low-latency microservice function calls?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→ </a:t>
            </a:r>
            <a:r>
              <a:rPr b="0" sz="1200" i="1" u="none">
                <a:solidFill>
                  <a:srgbClr val="334155"/>
                </a:solidFill>
                <a:latin typeface="Lato"/>
              </a:rPr>
              <a:t>Use UTCP lightweight execution specification.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43175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71825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0047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29125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Protocol Selection Decision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487959"/>
            <a:ext cx="15430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Lato"/>
              </a:rPr>
              <a:t>MODULE 3.1 &amp;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97509"/>
            <a:ext cx="9221152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FFFFFF"/>
                </a:solidFill>
                <a:latin typeface="Poppins SemiBold"/>
              </a:rPr>
              <a:t>Human-in-the-Loop &amp; Decision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58899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969990"/>
            <a:ext cx="72866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Designing enterprise verification gates, threshold escalation paths, and durable audit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148012"/>
            <a:ext cx="53721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1" sz="7500" i="0" u="none">
                <a:solidFill>
                  <a:srgbClr val="2563EB"/>
                </a:solidFill>
                <a:latin typeface="Poppins"/>
              </a:rPr>
              <a:t>100%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4195762"/>
            <a:ext cx="537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Lato"/>
              </a:rPr>
              <a:t>Accountability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400" y="2895600"/>
            <a:ext cx="56407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Managing Non-Deterministic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3305175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LLMs operating in enterprise environments introduced non-deterministic behavior. HITL patterns shift AI systems from pure unmonitored automation to supervised autonomy.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4105275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Critical for high-risk operations: financial transfers, clinical decisions, production deployments, and legal compliance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Strategic Rationale for HITL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66987"/>
            <a:ext cx="3530649" cy="243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566987"/>
            <a:ext cx="3530649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566987"/>
            <a:ext cx="3530649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33289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Pre-Execution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738562"/>
            <a:ext cx="30543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Agent generates proposed plan or tool payload; execution halts completely until human explicitly grants approval (e.g., Wire Transfer).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8874" y="33289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Intermittent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738562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Agent executes routine tasks autonomously, but routes low-confidence actions to human review queues based on threshold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8124" y="3328987"/>
            <a:ext cx="32071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Post-Execution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124" y="3738562"/>
            <a:ext cx="30543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Agent executes immediately to maintain SLA, but logs all context to audit trail for human retrospective review &amp; rollback capability.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843212"/>
            <a:ext cx="2667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2843212"/>
            <a:ext cx="3429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124" y="2843212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Taxonomy of HITL Approval 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8608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Confidence Score Cutoffs: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If agent self-evaluated confidence falls below defined SLA threshold (e.g., &lt; 0.85), automatically trigger human verification route.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613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Financial Value Thresholds: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Automate claim payouts &lt; $5,000; require Level 1 manager approval for $5,000–$50,000; require VP sign-off for &gt; $50,000.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8618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Tool Risk Tiering: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Read-only database tools run unhindered; DB Write / Delete or External API operations enforce synchronous human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8623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SLA Timeout Fallbacks: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If human reviewer does not respond within defined SLA window, automatically execute pre-configured default safe fallback action.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00375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00425"/>
            <a:ext cx="1143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0047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00525"/>
            <a:ext cx="14287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Threshold-Based Escalation Gates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76437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Durable Pause &amp; Resume: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Agent framework must persist full execution memory state to database (Redis/Postgres) while waiting for human interaction.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368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Asynchronous Notification: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Event-driven triggers push approval requests via Webhooks to Slack, Microsoft Teams, or ServiceNow.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62337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State Mutation &amp; Re-Plan: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Human reviewer can reject, modify parameters, or inject explicit guidance before re-triggering agent execution loop.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238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4797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76625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HITL State Machines &amp; Workflows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531268"/>
          <a:ext cx="11048998" cy="2509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27361"/>
                <a:gridCol w="2271414"/>
                <a:gridCol w="6550223"/>
              </a:tblGrid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Schema Field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Architectural Governance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Trace_ID / Session_ID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UUID v4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End-to-end distributed transaction tracing across multi-agent hops.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Prompt_and_Tool_State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JSON / Vector Reference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Captures exact input prompt, system context, and tools available at decision time.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96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Human_Reviewer_ID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String / SSO Identity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Cryptographic proof of human authority approving or overriding action.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196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Decision_Rationale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Text String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Human or agent justification text stored immutably for compliance auditing.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3007518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98861" y="3007518"/>
            <a:ext cx="22714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0276" y="3007518"/>
            <a:ext cx="6550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512343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98861" y="3512343"/>
            <a:ext cx="22714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0276" y="3512343"/>
            <a:ext cx="6550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017168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98861" y="4017168"/>
            <a:ext cx="22714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70276" y="4017168"/>
            <a:ext cx="6550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521993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861" y="4521993"/>
            <a:ext cx="22714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0276" y="4521993"/>
            <a:ext cx="6550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026818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861" y="5026818"/>
            <a:ext cx="22714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0276" y="5026818"/>
            <a:ext cx="6550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Audit Trail &amp; Compliance Schema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7925"/>
            <a:ext cx="5372100" cy="2676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47925"/>
            <a:ext cx="5372100" cy="2676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72415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Human Feedback Integration (RLHF)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1337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Captures human overrides, corrections, and approvals into structured data lakes.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7052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Curates golden datasets for fine-tuning enterprise domain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0481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Reduces future human intervention rates over time via active learning loops.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72415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AI-Assisted Feedback (RLAIF)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1337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Uses higher-order Evaluator Models (e.g., Claude 3.5 Sonnet / GPT-4o) to review worker agent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052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Scales verification throughput while reserving human attention for low-confidence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2767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Enforces architectural guardrails automatically prior to human escalation.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Feedback Loops: RLHF &amp; RLAIF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487959"/>
            <a:ext cx="1076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Lato"/>
              </a:rPr>
              <a:t>MODULE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97509"/>
            <a:ext cx="76009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FFFFFF"/>
                </a:solidFill>
                <a:latin typeface="Poppins SemiBold"/>
              </a:rPr>
              <a:t>Hands-On Practical Laboratory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58899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969990"/>
            <a:ext cx="598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Building an MCP-Enabled Agent with Human-in-the-Loop Decision Gates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47837"/>
            <a:ext cx="11049000" cy="3362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25" y="2128837"/>
            <a:ext cx="647700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64255" y="2833687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FFFFF"/>
                </a:solidFill>
                <a:latin typeface="Poppins SemiBold"/>
              </a:rPr>
              <a:t>PAUSE FOR HANDS-ON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7175" y="3405187"/>
            <a:ext cx="4114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Lato"/>
              </a:rPr>
              <a:t>Module 4.2: Building an MCP-Enabled Agent with HITL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0825" y="3929062"/>
            <a:ext cx="6667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Switch to your IDE / Lab Environment.</a:t>
            </a:r>
            <a:r>
              <a:t>
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Implement custom MCP Tool Server (FastMCP / Spring MCP) and attach Human Approval Gate node before DB write execution.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487959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Lato"/>
              </a:rPr>
              <a:t>MODULE 10 (DAILY)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97509"/>
            <a:ext cx="5690711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FFFFFF"/>
                </a:solidFill>
                <a:latin typeface="Poppins SemiBold"/>
              </a:rPr>
              <a:t>Capstone Checkpoint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58899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969990"/>
            <a:ext cx="5867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Protocols &amp; Governance Architecture Mapping for Enterprise Scenarios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8608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Incorporate MCP Tool Endpoints: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Map all legacy APIs and backend data sources to explicit MCP Server boundaries in your team capstone architecture.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613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Insert HITL Decision Gates: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Define exact approval nodes, escalation thresholds, and SLA fallback behaviors for high-risk agent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8618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Establish Audit Trail Schema: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Document JSON payload logging parameters for regulatory compliance and retrospective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86237"/>
            <a:ext cx="1070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Deliverable: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Update Capstone Blueprint to </a:t>
            </a:r>
            <a:r>
              <a:rPr b="0" sz="1200" i="1" u="none">
                <a:solidFill>
                  <a:srgbClr val="334155"/>
                </a:solidFill>
                <a:latin typeface="Lato"/>
              </a:rPr>
              <a:t>Governance Architecture v2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on Excalidraw / Design Tool.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00375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00425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00475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00525"/>
            <a:ext cx="14287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Protocols &amp; Governance Mapping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62225"/>
            <a:ext cx="5372100" cy="2447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62225"/>
            <a:ext cx="5372100" cy="2447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283845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Technical Artifacts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32480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1.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MCP Boundary Map: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Detailed breakdown of MCP Servers vs Clients.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909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2.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HITL State Diagram: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Visual workflow showing pause/resume execution and notification pathways.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624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3.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Audit Trail Spec: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Schema definition for regulatory logging.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838450"/>
            <a:ext cx="50606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Jury Evaluation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2480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Strict Privilege Control: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Are high-risk tools shielded behind explicit HITL approval gates?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819525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Protocol Selection Clarity: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Is there a clear, justified rationale for choosing MCP, A2A, or REST?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391025"/>
            <a:ext cx="4819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Resilience: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Does the architecture handle human timeout gracefully?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Capstone Deliverables &amp; Evaluation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249834"/>
            <a:ext cx="9620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Lato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459384"/>
            <a:ext cx="7110888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FFFFFF"/>
                </a:solidFill>
                <a:latin typeface="Poppins SemiBold"/>
              </a:rPr>
              <a:t>Day 2 Architectural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35086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579465"/>
            <a:ext cx="9458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1.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Protocols standardize boundaries: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Use MCP for tool/data integration and A2A for peer coordination.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22365"/>
            <a:ext cx="9458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2.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Autonomy requires governance: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HITL decision gates and durable state machines turn non-deterministic AI into controllable enterprise assets.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65265"/>
            <a:ext cx="9458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3.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Auditability is non-negotiable: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Capture complete execution memory, prompt state, and human approvals for compliance.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9337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162300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30765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https://media.istockphoto.com/id/2260708828/photo/abstract-network-background-with-glowing-digital-connection-nodes.jpg?s=612x612&amp;w=0&amp;k=20&amp;c=E-BpEmY0MYBSBHR06_BlFvYdF7y5SFiokuKEcWfubLU=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34956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www.istockphoto.com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955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40266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https://www.mdpi.com/digital/digital-05-00059/article_deploy/html/images/digital-05-00059-g001-550.jpg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42600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www.mdpi.com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